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开场只讲一件事：TS 侧这次的改动不是调参，是把一个退化成直接回归的模型改回真正的流匹配，并在超算上完整验证。0.224 Å 这个数字后面会解释它和两条基线的关系。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这一页的目的是说明问题不是「效果不好」，而是「方法根本不是它声称的方法」。关键判据是可检验的：把 eval_num_steps 从 1 调到 50，输出不变，就证明没有积分。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 σ 不是「加点噪声正则」，而是让输运问题成立的必需条件。修复清单落在 4 个文件：pyg.py（数据与时间律）、workflows/transition_state.py（不再传死 flow_time）、evaluation/transition_state.py（真积分）、tools/evaluate_transition_state.py（透传时间律）。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这一页是可信度的基础：数据划分与基线完全对齐，所以后面的比较是同口径的。另外说明 32 核是标定结果——实测 32/48/64 线程吞吐相同，96 线程反而更慢，瓶颈在数据侧。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三条证据：(1) loss 从中点回归水平降到常数预测器地板以下；(2) 评测随训练持续改善；(3) 源基线（不含模型的灰线）始终不动。第三条是关键——如果评测在漂，源基线也会动。注意曲线是固定 64 事件子集、1 trial，逐轮可比。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这里修一个 docs/25 的估算：它把地板写成 σ√(2/π)=0.80，只算了高斯噪声，漏掉了 TS 偏离中点造成的系统性偏移。任何模型都无法低于 mean|TS − x0| = 1.39（实测 21327 个坐标）。模型降到 0.206，说明它确实从 R、P 两端读出了系统性结构，而非只拟合噪声。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必须讲清两点：best-of-40 = 0.1236 是 ORACLE 上界，因为选的时候用了参考 TS，推理时不知道哪次最好，是诊断天花板而非成绩。而修复前那 0.230 Å 虽然精度接近，但它是确定性一步映射，没有分布、没有 best-of-N，两者不是同一种能力。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源 RMSD 1.729 Å 是抽样起点离目标的距离，不含模型；total_motion 1.640 Å 证明积分确实在移动结构；产物 0.224 Å。用户常把 source_rmsd 误当基线，实际上基线是中点桥（无 1 Å 噪声），两者不可直接比较——这点在 caveat 页会再强调。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结论的顺序刻意是「方法 → 能力 → 任务」，而不是只报数字。特别提醒 R→P 的 2.03 Å 是早期 40 epoch 的欠训练结果，不能当作 R→P 的最终水平。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主动讲局限会显著提高汇报可信度。尤其是 oracle 上界、未弛豫、双口径这三条，审稿人一定会问。建议把这一页放在结论页之后、致谢之前。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这一页用于答疑：对方要复现或追问数字来源时直接翻到这里。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74519"/>
            <a:ext cx="1042416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1400"/>
              </a:spcAft>
            </a:pPr>
            <a:r>
              <a:rPr sz="4000" b="1" i="0">
                <a:solidFill>
                  <a:srgbClr val="1F2833"/>
                </a:solidFill>
                <a:latin typeface="Heiti TC"/>
              </a:rPr>
              <a:t>R + P → TS：从直接回归改成真正的流匹配</a:t>
            </a:r>
          </a:p>
          <a:p>
            <a:pPr algn="l">
              <a:spcBef>
                <a:spcPts val="400"/>
              </a:spcBef>
              <a:spcAft>
                <a:spcPts val="2600"/>
              </a:spcAft>
            </a:pPr>
            <a:r>
              <a:rPr sz="2000" b="0" i="0">
                <a:solidFill>
                  <a:srgbClr val="6B7682"/>
                </a:solidFill>
                <a:latin typeface="Heiti TC"/>
              </a:rPr>
              <a:t>Transition1x 上的修复、验证与结果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600" b="1" i="0">
                <a:solidFill>
                  <a:srgbClr val="2E5FA3"/>
                </a:solidFill>
                <a:latin typeface="Heiti TC"/>
              </a:rPr>
              <a:t>结论：单次采样对齐 RMSD 中位 0.224 Å，已越过中点桥（0.487 Å）与修复前直接回归（0.230 Å）；源噪声下的压缩比 7.7×</a:t>
            </a:r>
          </a:p>
          <a:p>
            <a:pPr algn="l">
              <a:spcBef>
                <a:spcPts val="2200"/>
              </a:spcBef>
              <a:spcAft>
                <a:spcPts val="600"/>
              </a:spcAft>
            </a:pPr>
            <a:r>
              <a:rPr sz="1300" b="0" i="0">
                <a:solidFill>
                  <a:srgbClr val="6B7682"/>
                </a:solidFill>
                <a:latin typeface="Heiti TC"/>
              </a:rPr>
              <a:t>2026-09-14 · partition AMD2 · job 2474126 · 3 h 16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900" b="1" i="0">
                <a:solidFill>
                  <a:srgbClr val="1F2833"/>
                </a:solidFill>
                <a:latin typeface="Heiti TC"/>
              </a:rPr>
              <a:t>问题：TS 模型并不是流匹配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350" b="0" i="0">
                <a:solidFill>
                  <a:srgbClr val="6B7682"/>
                </a:solidFill>
                <a:latin typeface="Heiti TC"/>
              </a:rPr>
              <a:t>用户发现 R+P→TS 是「一步求解」，逐行核对后确认参数化退化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44752"/>
            <a:ext cx="108813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650" b="1" i="0">
                <a:solidFill>
                  <a:srgbClr val="2E5FA3"/>
                </a:solidFill>
                <a:latin typeface="Heiti TC"/>
              </a:rPr>
              <a:t>退化的两处：  训练时间被钉死在 t = 0；源是确定的中点桥 (R+P)/2，没有分布。</a:t>
            </a:r>
          </a:p>
          <a:p>
            <a:pPr algn="l">
              <a:spcBef>
                <a:spcPts val="400"/>
              </a:spcBef>
              <a:spcAft>
                <a:spcPts val="1300"/>
              </a:spcAft>
            </a:pPr>
            <a:r>
              <a:rPr sz="1650" b="1" i="0">
                <a:solidFill>
                  <a:srgbClr val="2E5FA3"/>
                </a:solidFill>
                <a:latin typeface="Heiti TC"/>
              </a:rPr>
              <a:t>等价于：  让网络拟合 f(R, P) = TS − (R+P)/2 —— 这是直接回归，不是输运。</a:t>
            </a:r>
          </a:p>
          <a:p>
            <a:pPr algn="l">
              <a:spcBef>
                <a:spcPts val="400"/>
              </a:spcBef>
              <a:spcAft>
                <a:spcPts val="1300"/>
              </a:spcAft>
            </a:pPr>
            <a:r>
              <a:rPr sz="1650" b="1" i="0">
                <a:solidFill>
                  <a:srgbClr val="2E5FA3"/>
                </a:solidFill>
                <a:latin typeface="Heiti TC"/>
              </a:rPr>
              <a:t>为什么以前没发现：  docs/22 论证过 R→P 用 t = 0 直接回归更优，而 TS 侧照搬了这个结论。两篇文档各自自洽，合起来掩盖了「TS 根本没有速度场」。</a:t>
            </a:r>
          </a:p>
          <a:p>
            <a:pPr algn="l">
              <a:spcBef>
                <a:spcPts val="400"/>
              </a:spcBef>
              <a:spcAft>
                <a:spcPts val="1300"/>
              </a:spcAft>
            </a:pPr>
            <a:r>
              <a:rPr sz="1650" b="1" i="0">
                <a:solidFill>
                  <a:srgbClr val="2E5FA3"/>
                </a:solidFill>
                <a:latin typeface="Heiti TC"/>
              </a:rPr>
              <a:t>为什么必须修：  没有场就没有 ODE 积分，没有随机性就没有 best-of-N，也就无法为 KMC 提供「一个 basin → 多个候选」的能力。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577840"/>
            <a:ext cx="10881360" cy="658368"/>
          </a:xfrm>
          <a:prstGeom prst="rect">
            <a:avLst/>
          </a:prstGeom>
          <a:solidFill>
            <a:srgbClr val="FBEEEC"/>
          </a:solidFill>
          <a:ln w="12700">
            <a:solidFill>
              <a:srgbClr val="B545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1500" b="1">
                <a:solidFill>
                  <a:srgbClr val="B5453C"/>
                </a:solidFill>
                <a:latin typeface="Heiti TC"/>
              </a:rPr>
              <a:t>诊断标准：t 只在单点被监督 → 场在其余 t 无定义 → 积分无意义。eval_num_steps 设多大都一样。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900" b="1" i="0">
                <a:solidFill>
                  <a:srgbClr val="1F2833"/>
                </a:solidFill>
                <a:latin typeface="Heiti TC"/>
              </a:rPr>
              <a:t>修复：MolGEN 式随机源 + 全时间段监督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350" b="0" i="0">
                <a:solidFill>
                  <a:srgbClr val="6B7682"/>
                </a:solidFill>
                <a:latin typeface="Heiti TC"/>
              </a:rPr>
              <a:t>两个必要条件同时恢复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53212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1000"/>
              </a:spcAft>
            </a:pPr>
            <a:r>
              <a:rPr sz="1500" b="1" i="0">
                <a:solidFill>
                  <a:srgbClr val="1F2833"/>
                </a:solidFill>
                <a:latin typeface="Heiti TC"/>
              </a:rPr>
              <a:t>变分路径（v 沿路径为常数）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550" b="0" i="0">
                <a:solidFill>
                  <a:srgbClr val="2E5FA3"/>
                </a:solidFill>
                <a:latin typeface="Heiti TC"/>
              </a:rPr>
              <a:t>x0 = (R + P)/2 + σ·ξ        σ = 1.0 Å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550" b="0" i="0">
                <a:solidFill>
                  <a:srgbClr val="2E5FA3"/>
                </a:solidFill>
                <a:latin typeface="Heiti TC"/>
              </a:rPr>
              <a:t>t  ~ Beta(0.8, 0.8)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550" b="0" i="0">
                <a:solidFill>
                  <a:srgbClr val="2E5FA3"/>
                </a:solidFill>
                <a:latin typeface="Heiti TC"/>
              </a:rPr>
              <a:t>x_t = (1 − t)·x0 + t·TS</a:t>
            </a:r>
          </a:p>
          <a:p>
            <a:pPr algn="l">
              <a:spcBef>
                <a:spcPts val="400"/>
              </a:spcBef>
              <a:spcAft>
                <a:spcPts val="800"/>
              </a:spcAft>
            </a:pPr>
            <a:r>
              <a:rPr sz="1550" b="0" i="0">
                <a:solidFill>
                  <a:srgbClr val="2E5FA3"/>
                </a:solidFill>
                <a:latin typeface="Heiti TC"/>
              </a:rPr>
              <a:t>v   = TS − x0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1350" b="0" i="0">
                <a:solidFill>
                  <a:srgbClr val="6B7682"/>
                </a:solidFill>
                <a:latin typeface="Heiti TC"/>
              </a:rPr>
              <a:t>σ = 1.0 Å 取 MolGEN 的 x0std。它同时解决 docs/22 记录的代数反演泄漏：源本身带噪声后，x_t 在 t &gt; 0 时无法反解出 TS，网络必须学输运。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537960" y="1481328"/>
          <a:ext cx="502920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512"/>
                <a:gridCol w="1609344"/>
                <a:gridCol w="1609344"/>
              </a:tblGrid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iti TC"/>
                        </a:rPr>
                        <a:t>必要条件</a:t>
                      </a:r>
                    </a:p>
                  </a:txBody>
                  <a:tcPr marL="82296" marR="82296" marT="32004" marB="32004" anchor="ctr"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iti TC"/>
                        </a:rPr>
                        <a:t>修复前</a:t>
                      </a:r>
                    </a:p>
                  </a:txBody>
                  <a:tcPr marL="82296" marR="82296" marT="32004" marB="32004" anchor="ctr"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iti TC"/>
                        </a:rPr>
                        <a:t>修复后</a:t>
                      </a:r>
                    </a:p>
                  </a:txBody>
                  <a:tcPr marL="82296" marR="82296" marT="32004" marB="32004" anchor="ctr">
                    <a:solidFill>
                      <a:srgbClr val="2E5FA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E7D4F"/>
                          </a:solidFill>
                          <a:latin typeface="Heiti TC"/>
                        </a:rPr>
                        <a:t>t 在区间上有分布</a:t>
                      </a:r>
                    </a:p>
                  </a:txBody>
                  <a:tcPr marL="82296" marR="82296" marT="32004" marB="32004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E7D4F"/>
                          </a:solidFill>
                          <a:latin typeface="Heiti TC"/>
                        </a:rPr>
                        <a:t>t ≡ 0（单点）</a:t>
                      </a:r>
                    </a:p>
                  </a:txBody>
                  <a:tcPr marL="82296" marR="82296" marT="32004" marB="32004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E7D4F"/>
                          </a:solidFill>
                          <a:latin typeface="Heiti TC"/>
                        </a:rPr>
                        <a:t>t ~ Beta(0.8, 0.8)</a:t>
                      </a:r>
                    </a:p>
                  </a:txBody>
                  <a:tcPr marL="82296" marR="82296" marT="32004" marB="32004" anchor="ctr">
                    <a:solidFill>
                      <a:srgbClr val="E8F3E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E7D4F"/>
                          </a:solidFill>
                          <a:latin typeface="Heiti TC"/>
                        </a:rPr>
                        <a:t>源是分布 x0 ~ p0</a:t>
                      </a:r>
                    </a:p>
                  </a:txBody>
                  <a:tcPr marL="82296" marR="82296" marT="32004" marB="32004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E7D4F"/>
                          </a:solidFill>
                          <a:latin typeface="Heiti TC"/>
                        </a:rPr>
                        <a:t>x0 ≡ 中点桥</a:t>
                      </a:r>
                    </a:p>
                  </a:txBody>
                  <a:tcPr marL="82296" marR="82296" marT="32004" marB="32004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E7D4F"/>
                          </a:solidFill>
                          <a:latin typeface="Heiti TC"/>
                        </a:rPr>
                        <a:t>中点桥 + N(0, 1.0 Å)</a:t>
                      </a:r>
                    </a:p>
                  </a:txBody>
                  <a:tcPr marL="82296" marR="82296" marT="32004" marB="32004" anchor="ctr">
                    <a:solidFill>
                      <a:srgbClr val="E8F3E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采样是积分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一次前向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16 步 ODE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2E7D4F"/>
                          </a:solidFill>
                          <a:latin typeface="Heiti TC"/>
                        </a:rPr>
                        <a:t>best-of-N 是否有效</a:t>
                      </a:r>
                    </a:p>
                  </a:txBody>
                  <a:tcPr marL="82296" marR="82296" marT="32004" marB="32004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E7D4F"/>
                          </a:solidFill>
                          <a:latin typeface="Heiti TC"/>
                        </a:rPr>
                        <a:t>否（同输出的重复）</a:t>
                      </a:r>
                    </a:p>
                  </a:txBody>
                  <a:tcPr marL="82296" marR="82296" marT="32004" marB="32004" anchor="ctr">
                    <a:solidFill>
                      <a:srgbClr val="E8F3E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2E7D4F"/>
                          </a:solidFill>
                          <a:latin typeface="Heiti TC"/>
                        </a:rPr>
                        <a:t>是（真实采样方差）</a:t>
                      </a:r>
                    </a:p>
                  </a:txBody>
                  <a:tcPr marL="82296" marR="82296" marT="32004" marB="32004" anchor="ctr">
                    <a:solidFill>
                      <a:srgbClr val="E8F3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900" b="1" i="0">
                <a:solidFill>
                  <a:srgbClr val="1F2833"/>
                </a:solidFill>
                <a:latin typeface="Heiti TC"/>
              </a:rPr>
              <a:t>实验设置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350" b="0" i="0">
                <a:solidFill>
                  <a:srgbClr val="6B7682"/>
                </a:solidFill>
                <a:latin typeface="Heiti TC"/>
              </a:rPr>
              <a:t>单次运行，全部数字来自产物文件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63040"/>
          <a:ext cx="10881359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3390"/>
                <a:gridCol w="9357969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iti TC"/>
                        </a:rPr>
                        <a:t>项目</a:t>
                      </a:r>
                    </a:p>
                  </a:txBody>
                  <a:tcPr marL="82296" marR="82296" marT="32004" marB="32004" anchor="ctr"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iti TC"/>
                        </a:rPr>
                        <a:t>设置</a:t>
                      </a:r>
                    </a:p>
                  </a:txBody>
                  <a:tcPr marL="82296" marR="82296" marT="32004" marB="32004" anchor="ctr">
                    <a:solidFill>
                      <a:srgbClr val="2E5F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数据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Transition1x aligned，train 9000 / val 536（与 R→P 同一冻结划分，basin 完全一致）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模型</a:t>
                      </a:r>
                    </a:p>
                  </a:txBody>
                  <a:tcPr marL="82296" marR="82296" marT="32004" marB="3200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PaiNN 256×6，r_max 12 Å，96 径向基，endpoint_condition + endpoint_equivariant</a:t>
                      </a:r>
                    </a:p>
                  </a:txBody>
                  <a:tcPr marL="82296" marR="82296" marT="32004" marB="32004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目标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v = TS − x0，L1 损失；AdamW，cosine + 5% warmup，lr 1e-3，batch 64，40 epochs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评测</a:t>
                      </a:r>
                    </a:p>
                  </a:txBody>
                  <a:tcPr marL="82296" marR="82296" marT="32004" marB="3200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全量 val 536 事件 × 40 次采样 = 21440 样本，16 步 ODE 积分</a:t>
                      </a:r>
                    </a:p>
                  </a:txBody>
                  <a:tcPr marL="82296" marR="82296" marT="32004" marB="32004" anchor="ctr">
                    <a:solidFill>
                      <a:srgbClr val="F2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资源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AMD2 单节点 32 核 / 64 GB；训练 + 评测共 3 h 16 min（exit 0）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" y="4709160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2E5FA3"/>
                </a:solidFill>
                <a:latin typeface="Heiti TC"/>
              </a:rPr>
              <a:t>产物：  checkpoint.pt、report.json、逐轮 ts_curve.csv、21440 条采样轨迹（extxyz，17 帧/条）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5532120"/>
            <a:ext cx="10881360" cy="658368"/>
          </a:xfrm>
          <a:prstGeom prst="rect">
            <a:avLst/>
          </a:prstGeom>
          <a:solidFill>
            <a:srgbClr val="ECF4EE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1500" b="1">
                <a:solidFill>
                  <a:srgbClr val="2E7D4F"/>
                </a:solidFill>
                <a:latin typeface="Heiti TC"/>
              </a:rPr>
              <a:t>对照基线在同一冻结划分、同一评测函数上给出：中点桥 0.487 Å，修复前直接回归 0.230 Å。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900" b="1" i="0">
                <a:solidFill>
                  <a:srgbClr val="1F2833"/>
                </a:solidFill>
                <a:latin typeface="Heiti TC"/>
              </a:rPr>
              <a:t>主结果：三条量化证据均在训练中同步改善</a:t>
            </a:r>
          </a:p>
        </p:txBody>
      </p:sp>
      <p:pic>
        <p:nvPicPr>
          <p:cNvPr id="3" name="Picture 2" descr="fig1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385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900" b="1" i="0">
                <a:solidFill>
                  <a:srgbClr val="1F2833"/>
                </a:solidFill>
                <a:latin typeface="Heiti TC"/>
              </a:rPr>
              <a:t>证据一：loss 说明了什么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350" b="0" i="0">
                <a:solidFill>
                  <a:srgbClr val="6B7682"/>
                </a:solidFill>
                <a:latin typeface="Heiti TC"/>
              </a:rPr>
              <a:t>低于地板是「学到了条件结构」的硬证据，不是拟合噪声</a:t>
            </a:r>
          </a:p>
        </p:txBody>
      </p:sp>
      <p:pic>
        <p:nvPicPr>
          <p:cNvPr id="3" name="Picture 2" descr="fig2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25880"/>
            <a:ext cx="9418320" cy="54416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900" b="1" i="0">
                <a:solidFill>
                  <a:srgbClr val="1F2833"/>
                </a:solidFill>
                <a:latin typeface="Heiti TC"/>
              </a:rPr>
              <a:t>证据二：结果与基线对比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350" b="0" i="0">
                <a:solidFill>
                  <a:srgbClr val="6B7682"/>
                </a:solidFill>
                <a:latin typeface="Heiti TC"/>
              </a:rPr>
              <a:t>单次采样已经越过两条基线，best-of-40 再降一半</a:t>
            </a:r>
          </a:p>
        </p:txBody>
      </p:sp>
      <p:pic>
        <p:nvPicPr>
          <p:cNvPr id="3" name="Picture 2" descr="fig3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25880"/>
            <a:ext cx="9418320" cy="54416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900" b="1" i="0">
                <a:solidFill>
                  <a:srgbClr val="1F2833"/>
                </a:solidFill>
                <a:latin typeface="Heiti TC"/>
              </a:rPr>
              <a:t>证据三：起点 → 产物，压缩 7.7 倍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350" b="0" i="0">
                <a:solidFill>
                  <a:srgbClr val="6B7682"/>
                </a:solidFill>
                <a:latin typeface="Heiti TC"/>
              </a:rPr>
              <a:t>三个量的中位数（21440 次采样）</a:t>
            </a:r>
          </a:p>
        </p:txBody>
      </p:sp>
      <p:pic>
        <p:nvPicPr>
          <p:cNvPr id="3" name="Picture 2" descr="fig4_s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298448"/>
            <a:ext cx="9418320" cy="54416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900" b="1" i="0">
                <a:solidFill>
                  <a:srgbClr val="1F2833"/>
                </a:solidFill>
                <a:latin typeface="Heiti TC"/>
              </a:rPr>
              <a:t>结论</a:t>
            </a:r>
          </a:p>
          <a:p>
            <a:pPr algn="l">
              <a:spcBef>
                <a:spcPts val="400"/>
              </a:spcBef>
              <a:spcAft>
                <a:spcPts val="600"/>
              </a:spcAft>
            </a:pPr>
            <a:r>
              <a:rPr sz="1350" b="0" i="0">
                <a:solidFill>
                  <a:srgbClr val="6B7682"/>
                </a:solidFill>
                <a:latin typeface="Heiti TC"/>
              </a:rPr>
              <a:t>三句话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44752"/>
            <a:ext cx="108813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700" b="1" i="0">
                <a:solidFill>
                  <a:srgbClr val="2E5FA3"/>
                </a:solidFill>
                <a:latin typeface="Heiti TC"/>
              </a:rPr>
              <a:t>1. 修复成立。  TS 侧现在是可验证的真流匹配：t 有分布、源有分布、采样是 16 步积分，field 非平凡性已有测试覆盖。</a:t>
            </a:r>
          </a:p>
          <a:p>
            <a:pPr algn="l">
              <a:spcBef>
                <a:spcPts val="400"/>
              </a:spcBef>
              <a:spcAft>
                <a:spcPts val="1600"/>
              </a:spcAft>
            </a:pPr>
            <a:r>
              <a:rPr sz="1700" b="1" i="0">
                <a:solidFill>
                  <a:srgbClr val="2E5FA3"/>
                </a:solidFill>
                <a:latin typeface="Heiti TC"/>
              </a:rPr>
              <a:t>2. 精度可接受，能力是质变。  单次采样 0.224 Å 优于中点桥 0.487 Å，与修复前直接回归 0.230 Å 同级；但新增了真实采样方差与 best-of-40（0.124 Å）的能力。</a:t>
            </a:r>
          </a:p>
          <a:p>
            <a:pPr algn="l">
              <a:spcBef>
                <a:spcPts val="400"/>
              </a:spcBef>
              <a:spcAft>
                <a:spcPts val="1600"/>
              </a:spcAft>
            </a:pPr>
            <a:r>
              <a:rPr sz="1700" b="1" i="0">
                <a:solidFill>
                  <a:srgbClr val="2E5FA3"/>
                </a:solidFill>
                <a:latin typeface="Heiti TC"/>
              </a:rPr>
              <a:t>3. 任务本身是可行的。  起点本就离目标近（R+P 两端点已知），文献 0.1–0.2 Å 的量级符合预期；R→P 的 2.03 Å 说明困难在 R→P 侧，不在 TS 侧。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5504688"/>
            <a:ext cx="10881360" cy="658368"/>
          </a:xfrm>
          <a:prstGeom prst="rect">
            <a:avLst/>
          </a:prstGeom>
          <a:solidFill>
            <a:srgbClr val="ECF4EE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1500" b="1">
                <a:solidFill>
                  <a:srgbClr val="2E7D4F"/>
                </a:solidFill>
                <a:latin typeface="Heiti TC"/>
              </a:rPr>
              <a:t>已具备下一步条件：21440 条轨迹可支撑失败模式分析与 candidate ranking；流匹配框架就位后，可接 TS 验证与 KMC 事件库。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900" b="1" i="0">
                <a:solidFill>
                  <a:srgbClr val="1F2833"/>
                </a:solidFill>
                <a:latin typeface="Heiti TC"/>
              </a:rPr>
              <a:t>局限与口径（汇报时必须一起讲）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44752"/>
            <a:ext cx="10881360" cy="466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100"/>
              </a:spcAft>
            </a:pPr>
            <a:r>
              <a:rPr sz="1550" b="1" i="0">
                <a:solidFill>
                  <a:srgbClr val="2E5FA3"/>
                </a:solidFill>
                <a:latin typeface="Heiti TC"/>
              </a:rPr>
              <a:t>未弛豫、未做鞍点验证：  report.json 中 relaxation / saddle_validation 均为 not_run。所有 RMSD 是几何差异，不是经过物理验证的事件召回率。</a:t>
            </a:r>
          </a:p>
          <a:p>
            <a:pPr algn="l">
              <a:spcBef>
                <a:spcPts val="400"/>
              </a:spcBef>
              <a:spcAft>
                <a:spcPts val="1100"/>
              </a:spcAft>
            </a:pPr>
            <a:r>
              <a:rPr sz="1550" b="1" i="0">
                <a:solidFill>
                  <a:srgbClr val="2E5FA3"/>
                </a:solidFill>
                <a:latin typeface="Heiti TC"/>
              </a:rPr>
              <a:t>只有单一口径：  当前只报了 proper-rotation（不允许镜像）的结果；docs/17 要求双口径，与文献 0.1–0.2 Å 对比前需补 mirror-allowed 一列。</a:t>
            </a:r>
          </a:p>
          <a:p>
            <a:pPr algn="l">
              <a:spcBef>
                <a:spcPts val="400"/>
              </a:spcBef>
              <a:spcAft>
                <a:spcPts val="1100"/>
              </a:spcAft>
            </a:pPr>
            <a:r>
              <a:rPr sz="1550" b="1" i="0">
                <a:solidFill>
                  <a:srgbClr val="2E5FA3"/>
                </a:solidFill>
                <a:latin typeface="Heiti TC"/>
              </a:rPr>
              <a:t>子集越小越乐观：  8 事件时第 3 轮读出 0.261 Å，同样第 3 轮在 64 事件上是 0.390 Å。引用请用固定 64 事件或全量 val。</a:t>
            </a:r>
          </a:p>
          <a:p>
            <a:pPr algn="l">
              <a:spcBef>
                <a:spcPts val="400"/>
              </a:spcBef>
              <a:spcAft>
                <a:spcPts val="1100"/>
              </a:spcAft>
            </a:pPr>
            <a:r>
              <a:rPr sz="1550" b="1" i="0">
                <a:solidFill>
                  <a:srgbClr val="2E5FA3"/>
                </a:solidFill>
                <a:latin typeface="Heiti TC"/>
              </a:rPr>
              <a:t>R → P 未重训：  其 2.03 Å 是早期 40 epoch 结果，与 TS 不同口径，本页不作为结论。</a:t>
            </a:r>
          </a:p>
          <a:p>
            <a:pPr algn="l">
              <a:spcBef>
                <a:spcPts val="400"/>
              </a:spcBef>
              <a:spcAft>
                <a:spcPts val="1100"/>
              </a:spcAft>
            </a:pPr>
            <a:r>
              <a:rPr sz="1550" b="1" i="0">
                <a:solidFill>
                  <a:srgbClr val="2E5FA3"/>
                </a:solidFill>
                <a:latin typeface="Heiti TC"/>
              </a:rPr>
              <a:t>aligned 只比内部几何：  刚体平移/旋转误差不计入，不惩罚全局位姿偏差。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2900" b="1" i="0">
                <a:solidFill>
                  <a:srgbClr val="1F2833"/>
                </a:solidFill>
                <a:latin typeface="Heiti TC"/>
              </a:rPr>
              <a:t>附录：可复现信息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463040"/>
          <a:ext cx="1088135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7458"/>
                <a:gridCol w="8813901"/>
              </a:tblGrid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eiti TC"/>
                        </a:rPr>
                        <a:t>项目</a:t>
                      </a:r>
                    </a:p>
                  </a:txBody>
                  <a:tcPr marL="82296" marR="82296" marT="32004" marB="32004" anchor="ctr"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eiti TC"/>
                        </a:rPr>
                        <a:t>内容</a:t>
                      </a:r>
                    </a:p>
                  </a:txBody>
                  <a:tcPr marL="82296" marR="82296" marT="32004" marB="32004" anchor="ctr">
                    <a:solidFill>
                      <a:srgbClr val="2E5FA3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源码 / 环境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apps/basinflow-src（editable）；conda env basinflow，python 3.10 + torch 2.6.0+cpu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数据</a:t>
                      </a:r>
                    </a:p>
                  </a:txBody>
                  <a:tcPr marL="82296" marR="82296" marT="32004" marB="3200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transition1x/data/transition1x_aligned_9000_ts（9000 / 536 / 537）</a:t>
                      </a:r>
                    </a:p>
                  </a:txBody>
                  <a:tcPr marL="82296" marR="82296" marT="32004" marB="32004" anchor="ctr">
                    <a:solidFill>
                      <a:srgbClr val="F2F5F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输入文件 / 脚本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config_ts.ini；sbatch run_basinflow.sbatch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运行目录</a:t>
                      </a:r>
                    </a:p>
                  </a:txBody>
                  <a:tcPr marL="82296" marR="82296" marT="32004" marB="3200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runs/0914TS/config_ts_2474126（本次）；runs/0914RP/…（R→P）</a:t>
                      </a:r>
                    </a:p>
                  </a:txBody>
                  <a:tcPr marL="82296" marR="82296" marT="32004" marB="32004" anchor="ctr">
                    <a:solidFill>
                      <a:srgbClr val="F2F5F9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关键产物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report.json、ts_curve/ts_curve.csv、sampling/trajectories/*.extxyz、epoch_checkpoints/</a:t>
                      </a:r>
                    </a:p>
                  </a:txBody>
                  <a:tcPr marL="82296" marR="82296" marT="32004" marB="32004" anchor="ctr">
                    <a:solidFill>
                      <a:srgbClr val="FFFFFF"/>
                    </a:solidFill>
                  </a:tcPr>
                </a:tc>
              </a:tr>
              <a:tr h="444138">
                <a:tc>
                  <a:txBody>
                    <a:bodyPr/>
                    <a:lstStyle/>
                    <a:p>
                      <a:pPr algn="l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复现命令</a:t>
                      </a:r>
                    </a:p>
                  </a:txBody>
                  <a:tcPr marL="82296" marR="82296" marT="32004" marB="32004" anchor="ctr"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333D47"/>
                          </a:solidFill>
                          <a:latin typeface="Heiti TC"/>
                        </a:rPr>
                        <a:t>sbatch run_basinflow.sbatch   （RUN_GROUP=0914TS 为默认）</a:t>
                      </a:r>
                    </a:p>
                  </a:txBody>
                  <a:tcPr marL="82296" marR="82296" marT="32004" marB="3200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685800" y="4983480"/>
            <a:ext cx="10881360" cy="658368"/>
          </a:xfrm>
          <a:prstGeom prst="rect">
            <a:avLst/>
          </a:prstGeom>
          <a:solidFill>
            <a:srgbClr val="ECF4EE"/>
          </a:solidFill>
          <a:ln w="12700">
            <a:solidFill>
              <a:srgbClr val="2E7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ctr"/>
            <a:r>
              <a:rPr sz="1500" b="1">
                <a:solidFill>
                  <a:srgbClr val="2E7D4F"/>
                </a:solidFill>
                <a:latin typeface="Heiti TC"/>
              </a:rPr>
              <a:t>运行记录与口径说明：docs/26_hpc_deployment.md；TS 修复过程：docs/25_ts_flow_degeneracy_and_fix.md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